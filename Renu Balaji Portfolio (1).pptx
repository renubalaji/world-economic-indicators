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00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16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renu-balaji/" TargetMode="External"/><Relationship Id="rId4" Type="http://schemas.openxmlformats.org/officeDocument/2006/relationships/hyperlink" Target="https://github.com/RenuBalaji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1120140"/>
            <a:ext cx="3291840" cy="4023360"/>
          </a:xfrm>
          <a:prstGeom prst="rect">
            <a:avLst/>
          </a:prstGeom>
          <a:solidFill>
            <a:srgbClr val="C8E6F5"/>
          </a:solidFill>
          <a:ln w="12700">
            <a:solidFill>
              <a:srgbClr val="C8E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2125980"/>
            <a:ext cx="2880360" cy="3017520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3131820"/>
            <a:ext cx="2468880" cy="2011680"/>
          </a:xfrm>
          <a:prstGeom prst="rect">
            <a:avLst/>
          </a:prstGeom>
          <a:solidFill>
            <a:srgbClr val="4A9BC4"/>
          </a:solidFill>
          <a:ln w="12700">
            <a:solidFill>
              <a:srgbClr val="4A9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137660"/>
            <a:ext cx="2057400" cy="1005840"/>
          </a:xfrm>
          <a:prstGeom prst="rect">
            <a:avLst/>
          </a:prstGeom>
          <a:solidFill>
            <a:srgbClr val="1A6B99"/>
          </a:solidFill>
          <a:ln w="12700">
            <a:solidFill>
              <a:srgbClr val="1A6B9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275" y="999534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91440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RENU BALAJI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02920" y="20574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Product Portfolio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02920" y="2606040"/>
            <a:ext cx="34747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8346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527048" y="28346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LinkedIn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 AI Operational Intelligence Tool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3913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 </a:t>
            </a:r>
            <a:r>
              <a:rPr lang="en-US" sz="1300" dirty="0" err="1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CraveCaster</a:t>
            </a:r>
            <a:r>
              <a:rPr lang="en-US" sz="13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AI Meal App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12balaji.renu@gmail.com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950" dirty="0"/>
          </a:p>
        </p:txBody>
      </p:sp>
      <p:pic>
        <p:nvPicPr>
          <p:cNvPr id="5" name="Image 0" descr="/home/claude/photo_3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32109" y="309005"/>
            <a:ext cx="2746353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3241548"/>
            <a:ext cx="3291840" cy="1901952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Text 4"/>
          <p:cNvSpPr/>
          <p:nvPr/>
        </p:nvSpPr>
        <p:spPr>
          <a:xfrm>
            <a:off x="6016752" y="34015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Berlin, Germany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16752" y="363836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MSc Molecular Biology (HU Berlin) · GPA 1.3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24634" y="38988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Gold Medalist B.Eng · GPA 9.7/10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71931" y="4159259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Data Analytics Diploma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4389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ME: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02920" y="960120"/>
            <a:ext cx="5074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479272" y="1320519"/>
            <a:ext cx="5120640" cy="2605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Product Operations &amp; Management professional with 3+ years of experience across logistics, product, and data analytics. Passionate about AI integration workflows, agent building, and technical products, with hands-on experience in data-driven decision-making, KPI tracking, experimentation, and cross-functional product delivery.</a:t>
            </a:r>
            <a:endParaRPr lang="en-US" sz="11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15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15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excel at translating complex operational data into actionable insights and building AI-powered tools that make a measurable impact. I bridge the gap between engineering, data, and business, turning ideas into shipped products. </a:t>
            </a: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I have a genuine passion for AI. I stay current with the latest developments, continuously upskill, and actively look for opportunities to build and experiment with new tools and technologies.</a:t>
            </a:r>
            <a:endParaRPr lang="en-US" sz="11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1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at Delivery Hero SE, building AI-powered operational intelligence and automated product support workflows.</a:t>
            </a:r>
            <a:endParaRPr lang="en-US" sz="115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AI Ops Intelligence Tool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71132" y="256032"/>
            <a:ext cx="1051560" cy="546811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94576" y="603504"/>
            <a:ext cx="804672" cy="418429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13448" y="950976"/>
            <a:ext cx="566928" cy="294803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42923" y="1789386"/>
            <a:ext cx="2926080" cy="713232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9202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75120" y="1920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35040" y="2743200"/>
            <a:ext cx="2926080" cy="713232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8346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75120" y="2834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/ SQL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3657600"/>
            <a:ext cx="2926080" cy="713232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37490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3749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API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35040" y="466344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035040" y="46634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In Implementation: Delivery Hero SE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02920" y="438912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AI Operational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Tool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463506" y="1603353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AI-powered operational oversight across 8 global markets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95038" y="1952717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47740" y="2034383"/>
            <a:ext cx="5166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AI operational intelligence system connecting live BigQuery KPI data to a Claude-powered engine. The tool automatically identifies regional anomalies, maps issues to country level, surfaces root cause analyses with confidence scores, and auto-escalates to relevant Slack stakeholders, collecting responses back into a unified UI.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Demoed to Directors and Senior Directors at Delivery Hero. Currently in staged implementation.</a:t>
            </a:r>
            <a:endParaRPr lang="en-US" sz="11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D72140-CA4A-C1A7-4457-0C02505C6E1D}"/>
              </a:ext>
            </a:extLst>
          </p:cNvPr>
          <p:cNvSpPr txBox="1"/>
          <p:nvPr/>
        </p:nvSpPr>
        <p:spPr>
          <a:xfrm>
            <a:off x="520262" y="24121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14F5C"/>
          </a:solidFill>
          <a:ln w="12700">
            <a:solidFill>
              <a:srgbClr val="014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329184"/>
          </a:xfrm>
          <a:prstGeom prst="rect">
            <a:avLst/>
          </a:prstGeom>
          <a:solidFill>
            <a:srgbClr val="014F5C"/>
          </a:solidFill>
          <a:ln w="12700">
            <a:solidFill>
              <a:srgbClr val="014F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AI Ops Intelligence Tool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035040" y="502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27157" y="551793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Delivery Hero BigQuery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Markets: 8 live operational KPIs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GMV, conversion, failure rates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0" y="20116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TOOLS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27157" y="2013257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BigQuery / SQL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API · Google Workspace · Python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35040" y="3520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SKILLS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42922" y="3592961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modelling · Anomaly detection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generation · KPI dashboards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workflow automation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4114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987552"/>
            <a:ext cx="2487168" cy="1828800"/>
          </a:xfrm>
          <a:prstGeom prst="rect">
            <a:avLst/>
          </a:prstGeom>
          <a:solidFill>
            <a:srgbClr val="EAF5F7"/>
          </a:solidFill>
          <a:ln w="12700">
            <a:solidFill>
              <a:srgbClr val="014F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987552"/>
            <a:ext cx="2487168" cy="64008"/>
          </a:xfrm>
          <a:prstGeom prst="rect">
            <a:avLst/>
          </a:prstGeom>
          <a:solidFill>
            <a:srgbClr val="014F5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" y="1170432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are underperforming against KPI targets?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987552"/>
            <a:ext cx="2487168" cy="1828800"/>
          </a:xfrm>
          <a:prstGeom prst="rect">
            <a:avLst/>
          </a:prstGeom>
          <a:solidFill>
            <a:srgbClr val="EAF5F7"/>
          </a:solidFill>
          <a:ln w="12700">
            <a:solidFill>
              <a:srgbClr val="014F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987552"/>
            <a:ext cx="2487168" cy="64008"/>
          </a:xfrm>
          <a:prstGeom prst="rect">
            <a:avLst/>
          </a:prstGeom>
          <a:solidFill>
            <a:srgbClr val="014F5C"/>
          </a:solidFill>
          <a:ln/>
        </p:spPr>
      </p:sp>
      <p:sp>
        <p:nvSpPr>
          <p:cNvPr id="17" name="Text 15"/>
          <p:cNvSpPr/>
          <p:nvPr/>
        </p:nvSpPr>
        <p:spPr>
          <a:xfrm>
            <a:off x="3282696" y="1170432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secondary metrics are driving the anomaly?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980944"/>
            <a:ext cx="2487168" cy="1828800"/>
          </a:xfrm>
          <a:prstGeom prst="rect">
            <a:avLst/>
          </a:prstGeom>
          <a:solidFill>
            <a:srgbClr val="EAF5F7"/>
          </a:solidFill>
          <a:ln w="12700">
            <a:solidFill>
              <a:srgbClr val="014F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980944"/>
            <a:ext cx="2487168" cy="64008"/>
          </a:xfrm>
          <a:prstGeom prst="rect">
            <a:avLst/>
          </a:prstGeom>
          <a:solidFill>
            <a:srgbClr val="014F5C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" y="3163824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root cause — with what confidence score?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2980944"/>
            <a:ext cx="2487168" cy="1828800"/>
          </a:xfrm>
          <a:prstGeom prst="rect">
            <a:avLst/>
          </a:prstGeom>
          <a:solidFill>
            <a:srgbClr val="EAF5F7"/>
          </a:solidFill>
          <a:ln w="12700">
            <a:solidFill>
              <a:srgbClr val="014F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2980944"/>
            <a:ext cx="2487168" cy="64008"/>
          </a:xfrm>
          <a:prstGeom prst="rect">
            <a:avLst/>
          </a:prstGeom>
          <a:solidFill>
            <a:srgbClr val="014F5C"/>
          </a:solidFill>
          <a:ln/>
        </p:spPr>
      </p:sp>
      <p:sp>
        <p:nvSpPr>
          <p:cNvPr id="23" name="Text 21"/>
          <p:cNvSpPr/>
          <p:nvPr/>
        </p:nvSpPr>
        <p:spPr>
          <a:xfrm>
            <a:off x="3282696" y="3163824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to be alerted and what action is required?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CraveCaster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488" y="651510"/>
            <a:ext cx="2253185" cy="3840480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02920" y="438912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CraveCaster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10803" y="129844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your cravings into reality.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8685" y="15872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1519166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Flutter app built with Claude and Gemini, hosted on Firebase Studio. CraveCaster takes your mood, energy level, dietary preferences, available ingredients and cuisine choice, then generates a personalised meal with a full nutritional breakdown.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 gamified XP levelling system, step-by-step cooking mode, AI photo verification of completed dishes, and friend challenge leaderboards. Built and used personally every day.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CraveCaster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003509" y="1046831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APP FEATURES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11391" y="890752"/>
            <a:ext cx="294342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&amp; energy-aware meal suggestions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food nutrition scoring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cooking mode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photo verification of dishes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levelling &amp; friend challenges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0" y="2880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TOOLS &amp; STACK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42923" y="2432619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Claude (Anthropic)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  ·  Firebase Studio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114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987552"/>
            <a:ext cx="2487168" cy="1828800"/>
          </a:xfrm>
          <a:prstGeom prst="rect">
            <a:avLst/>
          </a:prstGeom>
          <a:solidFill>
            <a:srgbClr val="EAF5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987552"/>
            <a:ext cx="2487168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" y="1170432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meal fits my mood, energy level and cravings right now?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987552"/>
            <a:ext cx="2487168" cy="1828800"/>
          </a:xfrm>
          <a:prstGeom prst="rect">
            <a:avLst/>
          </a:prstGeom>
          <a:solidFill>
            <a:srgbClr val="EAF5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987552"/>
            <a:ext cx="2487168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282696" y="1170432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meal meet my nutrition goal with a full macro breakdown?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980944"/>
            <a:ext cx="2487168" cy="1828800"/>
          </a:xfrm>
          <a:prstGeom prst="rect">
            <a:avLst/>
          </a:prstGeom>
          <a:solidFill>
            <a:srgbClr val="EAF5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980944"/>
            <a:ext cx="2487168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" y="3163824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actually cook the right dish? (AI photo verification)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2980944"/>
            <a:ext cx="2487168" cy="1828800"/>
          </a:xfrm>
          <a:prstGeom prst="rect">
            <a:avLst/>
          </a:prstGeom>
          <a:solidFill>
            <a:srgbClr val="EAF5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2980944"/>
            <a:ext cx="2487168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282696" y="3163824"/>
            <a:ext cx="2231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earn XP and compete with friends on cooking challenges?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CraveCaster — The Experience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20995" y="32025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Craving to Cooked: Gamified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5610" y="818958"/>
            <a:ext cx="15289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Context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84" y="1189169"/>
            <a:ext cx="1776464" cy="3027924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218026" y="4113231"/>
            <a:ext cx="20589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Mood, energy,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diet, cuisine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ingredients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551814" y="802323"/>
            <a:ext cx="17224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416" y="1190113"/>
            <a:ext cx="1774800" cy="3025088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5" name="Text 11"/>
          <p:cNvSpPr/>
          <p:nvPr/>
        </p:nvSpPr>
        <p:spPr>
          <a:xfrm>
            <a:off x="2666389" y="4142976"/>
            <a:ext cx="15289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&amp; Gemini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meal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+ XP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019261" y="256404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774018" y="825237"/>
            <a:ext cx="18181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It</a:t>
            </a:r>
            <a:endParaRPr lang="en-US" sz="11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907" y="1211580"/>
            <a:ext cx="1776274" cy="3027600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21" name="Text 16"/>
          <p:cNvSpPr/>
          <p:nvPr/>
        </p:nvSpPr>
        <p:spPr>
          <a:xfrm>
            <a:off x="4906867" y="4100446"/>
            <a:ext cx="15289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mode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you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7091916" y="812222"/>
            <a:ext cx="17650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Level</a:t>
            </a:r>
            <a:endParaRPr lang="en-US" sz="11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3548" y="1222213"/>
            <a:ext cx="1776274" cy="3027600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27" name="Text 21"/>
          <p:cNvSpPr/>
          <p:nvPr/>
        </p:nvSpPr>
        <p:spPr>
          <a:xfrm>
            <a:off x="7261185" y="4100629"/>
            <a:ext cx="15289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confirms dish.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XP or zero!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Tech Stack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Build With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 ·  Data-Driven  ·  Shipped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06040" cy="3337560"/>
          </a:xfrm>
          <a:prstGeom prst="rect">
            <a:avLst/>
          </a:prstGeom>
          <a:solidFill>
            <a:srgbClr val="EAF5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26060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LLMs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029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Claude (Anthropic)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" y="2468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Gemini CLI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7512" y="2907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ChatGPT Codex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7512" y="3346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Agentic Workflows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7512" y="3785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Prompt Engineering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Notebook LM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91840" y="1508760"/>
            <a:ext cx="2606040" cy="3337560"/>
          </a:xfrm>
          <a:prstGeom prst="rect">
            <a:avLst/>
          </a:prstGeom>
          <a:solidFill>
            <a:srgbClr val="EAF5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508760"/>
            <a:ext cx="26060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508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56432" y="2029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BigQuery / SQL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56432" y="2468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56432" y="2907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Tableau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56432" y="3346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Looker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56432" y="3785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Causal Modelling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56432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A/B Experimentation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1508760"/>
            <a:ext cx="2606040" cy="3337560"/>
          </a:xfrm>
          <a:prstGeom prst="rect">
            <a:avLst/>
          </a:prstGeom>
          <a:solidFill>
            <a:srgbClr val="EAF5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508760"/>
            <a:ext cx="26060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508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Build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5352" y="2029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Flutter / Firebase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45352" y="2468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Slack API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45352" y="2907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JIRA / Confluence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45352" y="3346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Product Roadmapping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45352" y="3785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KPI Frameworks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45352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Agile / Scrum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1120140"/>
            <a:ext cx="3291840" cy="4023360"/>
          </a:xfrm>
          <a:prstGeom prst="rect">
            <a:avLst/>
          </a:prstGeom>
          <a:solidFill>
            <a:srgbClr val="C8E6F5"/>
          </a:solidFill>
          <a:ln w="12700">
            <a:solidFill>
              <a:srgbClr val="C8E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2125980"/>
            <a:ext cx="2880360" cy="3017520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3131820"/>
            <a:ext cx="2468880" cy="2011680"/>
          </a:xfrm>
          <a:prstGeom prst="rect">
            <a:avLst/>
          </a:prstGeom>
          <a:solidFill>
            <a:srgbClr val="4A9BC4"/>
          </a:solidFill>
          <a:ln w="12700">
            <a:solidFill>
              <a:srgbClr val="4A9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137660"/>
            <a:ext cx="2057400" cy="1005840"/>
          </a:xfrm>
          <a:prstGeom prst="rect">
            <a:avLst/>
          </a:prstGeom>
          <a:solidFill>
            <a:srgbClr val="1A6B99"/>
          </a:solidFill>
          <a:ln w="12700">
            <a:solidFill>
              <a:srgbClr val="1A6B9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7432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0058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02920" y="212140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RENU BALAJI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02920" y="2670048"/>
            <a:ext cx="34747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90779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527048" y="290779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12balaji.renu@gmail.com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747</Words>
  <Application>Microsoft Macintosh PowerPoint</Application>
  <PresentationFormat>On-screen Show (16:9)</PresentationFormat>
  <Paragraphs>125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Renu B</cp:lastModifiedBy>
  <cp:revision>2</cp:revision>
  <dcterms:created xsi:type="dcterms:W3CDTF">2026-06-08T16:38:08Z</dcterms:created>
  <dcterms:modified xsi:type="dcterms:W3CDTF">2026-06-08T16:54:11Z</dcterms:modified>
</cp:coreProperties>
</file>